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45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808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172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30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395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970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530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762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86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47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84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2F4DB86-E7E2-4539-BAC7-2D0FB0C462FD}" type="datetimeFigureOut">
              <a:rPr lang="ru-RU" smtClean="0"/>
              <a:t>05.06.2026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CFCD3B5-3FA4-4ECF-A7DF-3DCB984A0CB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6989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DC9BF-CBB4-522F-E1C6-722257AE7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Проект «Цифровой щит»: База знаний по информационной безопасности и цифровой грамотности</a:t>
            </a:r>
            <a:r>
              <a:rPr lang="en-US" dirty="0"/>
              <a:t>. </a:t>
            </a:r>
            <a:r>
              <a:rPr lang="ru-RU" dirty="0"/>
              <a:t>Команда QS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25B1FC-4299-27C3-635F-0AD6E8A1D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3160296"/>
            <a:ext cx="10993546" cy="3144252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Добрый день! Меня зовут Никита Кравчук, а это мой коллега Влад Чибисов. Мы представляем команду QS и наш проект — "Цифровой щит". Сегодня мы расскажем о проблеме низкой цифровой грамотности и нашем решении</a:t>
            </a:r>
          </a:p>
        </p:txBody>
      </p:sp>
    </p:spTree>
    <p:extLst>
      <p:ext uri="{BB962C8B-B14F-4D97-AF65-F5344CB8AC3E}">
        <p14:creationId xmlns:p14="http://schemas.microsoft.com/office/powerpoint/2010/main" val="2728886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3B9B0B-0539-6145-0B17-7450AB1E8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Кто мы?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70F49F-C9CF-ACD4-930A-1445DABC0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Наша команда состоит всего из двух человек, но наши роли четко распределены. Я отвечаю за общее планирование и техническую часть, а Влад обеспечивает глубину и актуальность экспертной информации. Наше название, QS</a:t>
            </a:r>
          </a:p>
        </p:txBody>
      </p:sp>
    </p:spTree>
    <p:extLst>
      <p:ext uri="{BB962C8B-B14F-4D97-AF65-F5344CB8AC3E}">
        <p14:creationId xmlns:p14="http://schemas.microsoft.com/office/powerpoint/2010/main" val="1310473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0EB31-BE16-FE51-6EF1-05F9A7CD5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Растущая угроза цифрового мира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D0583D-0A69-CFCB-29B8-49A1F2E78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«Мы столкнулись с тем, что большинство людей не знают базовых правил безопасности в сети. Пользователи становятся легкой добычей мошенников, теряя деньги и личные данные. Кроме того, многие испытывают трудности с использованием полезных сервисов, таких как Госуслуги. На рынке нет единого ресурса, который бы просто и понятно объяснял все эти вопросы».</a:t>
            </a:r>
          </a:p>
        </p:txBody>
      </p:sp>
    </p:spTree>
    <p:extLst>
      <p:ext uri="{BB962C8B-B14F-4D97-AF65-F5344CB8AC3E}">
        <p14:creationId xmlns:p14="http://schemas.microsoft.com/office/powerpoint/2010/main" val="537367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81BA8-C5DA-453D-FEE8-6BE3C503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Единый информационный портал «Цифровой щит»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ABCFC4-7BF0-FBD6-A086-F1308EF2D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Схема главной страницы сайта с основными разделами: «Безопасность», «Госуслуги», «Программы», «Финансы». «Нашим решением стал этот информационный портал. Мы собрали и систематизировали самую важную информацию. Вместо того чтобы искать ответы на десятках форумов, пользователь может прийти к нам и найти проверенную инструкцию, например, о том, как распознать фишинговый сайт или восстановить пароль».</a:t>
            </a:r>
          </a:p>
        </p:txBody>
      </p:sp>
    </p:spTree>
    <p:extLst>
      <p:ext uri="{BB962C8B-B14F-4D97-AF65-F5344CB8AC3E}">
        <p14:creationId xmlns:p14="http://schemas.microsoft.com/office/powerpoint/2010/main" val="1217540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A65965-73CC-A664-937D-2AA4BDD34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400" dirty="0"/>
              <a:t>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698211-31F4-247F-5D44-97AC2B56F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 err="1"/>
              <a:t>Backend</a:t>
            </a:r>
            <a:r>
              <a:rPr lang="ru-RU" sz="2400" b="1" dirty="0"/>
              <a:t>:</a:t>
            </a:r>
            <a:r>
              <a:rPr lang="ru-RU" sz="2400" dirty="0"/>
              <a:t> Python / </a:t>
            </a:r>
            <a:r>
              <a:rPr lang="ru-RU" sz="2400" dirty="0" err="1"/>
              <a:t>Django</a:t>
            </a:r>
            <a:r>
              <a:rPr lang="ru-RU" sz="2400" dirty="0"/>
              <a:t> (надежная серверная логика).</a:t>
            </a:r>
          </a:p>
          <a:p>
            <a:r>
              <a:rPr lang="ru-RU" sz="2400" b="1" dirty="0" err="1"/>
              <a:t>Frontend</a:t>
            </a:r>
            <a:r>
              <a:rPr lang="ru-RU" sz="2400" b="1" dirty="0"/>
              <a:t>:</a:t>
            </a:r>
            <a:r>
              <a:rPr lang="ru-RU" sz="2400" dirty="0"/>
              <a:t> JavaScript / </a:t>
            </a:r>
            <a:r>
              <a:rPr lang="ru-RU" sz="2400" dirty="0" err="1"/>
              <a:t>TypeScript</a:t>
            </a:r>
            <a:r>
              <a:rPr lang="ru-RU" sz="2400" dirty="0"/>
              <a:t> / React.js (быстрый и отзывчивый интерфейс).</a:t>
            </a:r>
          </a:p>
          <a:p>
            <a:r>
              <a:rPr lang="ru-RU" sz="2400" b="1" dirty="0"/>
              <a:t>База данных:</a:t>
            </a:r>
            <a:r>
              <a:rPr lang="ru-RU" sz="2400" dirty="0"/>
              <a:t> </a:t>
            </a:r>
            <a:r>
              <a:rPr lang="ru-RU" sz="2400" dirty="0" err="1"/>
              <a:t>PostgreSQL</a:t>
            </a:r>
            <a:r>
              <a:rPr lang="ru-RU" sz="2400" dirty="0"/>
              <a:t> (безопасное хранение данных).</a:t>
            </a:r>
          </a:p>
          <a:p>
            <a:r>
              <a:rPr lang="ru-RU" sz="2400" b="1" dirty="0"/>
              <a:t>Инфраструктура:</a:t>
            </a:r>
            <a:r>
              <a:rPr lang="ru-RU" sz="2400" dirty="0"/>
              <a:t> </a:t>
            </a:r>
            <a:r>
              <a:rPr lang="ru-RU" sz="2400" dirty="0" err="1"/>
              <a:t>Docker</a:t>
            </a:r>
            <a:r>
              <a:rPr lang="ru-RU" sz="2400" dirty="0"/>
              <a:t> (упрощение развертывания и масштабирования).</a:t>
            </a:r>
          </a:p>
          <a:p>
            <a:pPr marL="0" indent="0">
              <a:buNone/>
            </a:pPr>
            <a:r>
              <a:rPr lang="ru-RU" sz="2400" dirty="0"/>
              <a:t>«Для реализации портала мы использовали современный и надежный технологический стек. Это позволило нам создать быстрый, безопасный и легко поддерживаемый продукт, готовый к будущему росту и развитию новых функций».</a:t>
            </a:r>
          </a:p>
        </p:txBody>
      </p:sp>
    </p:spTree>
    <p:extLst>
      <p:ext uri="{BB962C8B-B14F-4D97-AF65-F5344CB8AC3E}">
        <p14:creationId xmlns:p14="http://schemas.microsoft.com/office/powerpoint/2010/main" val="262077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1616D1-1C27-E93C-0529-9D1918F3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Прозрачность разработки на </a:t>
            </a:r>
            <a:r>
              <a:rPr lang="ru-RU" sz="4000" dirty="0" err="1"/>
              <a:t>GitHub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196719-BA1C-15A9-2FF5-CB6DC3BCA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Весь код проекта хранится в публичном репозитории.</a:t>
            </a:r>
          </a:p>
          <a:p>
            <a:r>
              <a:rPr lang="ru-RU" sz="2400" dirty="0"/>
              <a:t>Использование системы контроля версий </a:t>
            </a:r>
            <a:r>
              <a:rPr lang="ru-RU" sz="2400" dirty="0" err="1"/>
              <a:t>Git</a:t>
            </a:r>
            <a:r>
              <a:rPr lang="ru-RU" sz="2400" dirty="0"/>
              <a:t> для отслеживания изменений.</a:t>
            </a:r>
          </a:p>
          <a:p>
            <a:r>
              <a:rPr lang="ru-RU" sz="2400" dirty="0"/>
              <a:t>Внедрение </a:t>
            </a:r>
            <a:r>
              <a:rPr lang="ru-RU" sz="2400" i="1" dirty="0" err="1"/>
              <a:t>code</a:t>
            </a:r>
            <a:r>
              <a:rPr lang="ru-RU" sz="2400" i="1" dirty="0"/>
              <a:t> </a:t>
            </a:r>
            <a:r>
              <a:rPr lang="ru-RU" sz="2400" i="1" dirty="0" err="1"/>
              <a:t>review</a:t>
            </a:r>
            <a:r>
              <a:rPr lang="ru-RU" sz="2400" dirty="0"/>
              <a:t> для обеспечения качества кода.</a:t>
            </a:r>
          </a:p>
          <a:p>
            <a:r>
              <a:rPr lang="ru-RU" sz="2400" dirty="0"/>
              <a:t>Разделение работы по веткам (</a:t>
            </a:r>
            <a:r>
              <a:rPr lang="ru-RU" sz="2400" i="1" dirty="0" err="1"/>
              <a:t>branching</a:t>
            </a:r>
            <a:r>
              <a:rPr lang="ru-RU" sz="2400" dirty="0"/>
              <a:t>) для параллельной разработки.</a:t>
            </a:r>
          </a:p>
          <a:p>
            <a:r>
              <a:rPr lang="ru-RU" sz="2400" dirty="0"/>
              <a:t>«Вся наша работа была абсолютно прозрачной. Репозиторий проекта доступен на </a:t>
            </a:r>
            <a:r>
              <a:rPr lang="ru-RU" sz="2400" dirty="0" err="1"/>
              <a:t>GitHub</a:t>
            </a:r>
            <a:r>
              <a:rPr lang="ru-RU" sz="2400" dirty="0"/>
              <a:t>. Мы следовали лучшим практикам разработки: каждая строчка кода прошла ревью, а система контроля версий позволила нам эффективно работать вдвоем, не мешая друг другу».</a:t>
            </a:r>
          </a:p>
        </p:txBody>
      </p:sp>
    </p:spTree>
    <p:extLst>
      <p:ext uri="{BB962C8B-B14F-4D97-AF65-F5344CB8AC3E}">
        <p14:creationId xmlns:p14="http://schemas.microsoft.com/office/powerpoint/2010/main" val="511255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D59D3-9228-8753-E88C-061A8E3C7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Принципы безопасности, заложенные в основу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1F7AC7-5912-8B5B-8E0F-11830C149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Защита от основных веб-уязвимостей (XSS, CSRF) на уровне фреймворка </a:t>
            </a:r>
            <a:r>
              <a:rPr lang="ru-RU" sz="2400" dirty="0" err="1"/>
              <a:t>Django</a:t>
            </a:r>
            <a:r>
              <a:rPr lang="ru-RU" sz="2400" dirty="0"/>
              <a:t>.</a:t>
            </a:r>
          </a:p>
          <a:p>
            <a:r>
              <a:rPr lang="ru-RU" sz="2400" dirty="0"/>
              <a:t>Использование HTTPS для шифрования всего трафика между пользователем и сервером.</a:t>
            </a:r>
          </a:p>
          <a:p>
            <a:r>
              <a:rPr lang="ru-RU" sz="2400" dirty="0"/>
              <a:t>Хранение паролей в виде </a:t>
            </a:r>
            <a:r>
              <a:rPr lang="ru-RU" sz="2400" dirty="0" err="1"/>
              <a:t>хешей</a:t>
            </a:r>
            <a:r>
              <a:rPr lang="ru-RU" sz="2400" dirty="0"/>
              <a:t> с солью.</a:t>
            </a:r>
          </a:p>
          <a:p>
            <a:r>
              <a:rPr lang="ru-RU" sz="2400" dirty="0"/>
              <a:t>Регулярное обновление зависимостей для устранения известных уязвимостей.</a:t>
            </a:r>
          </a:p>
          <a:p>
            <a:r>
              <a:rPr lang="ru-RU" sz="2400" dirty="0"/>
              <a:t>«Поскольку наш проект посвящен безопасности, мы уделили этому аспекту особое внимание при разработке самого продукта. Мы защитили его от стандартных атак и обеспечили безопасную передачу данных, чтобы пользователи могли доверять нашему ресурсу».</a:t>
            </a:r>
          </a:p>
        </p:txBody>
      </p:sp>
    </p:spTree>
    <p:extLst>
      <p:ext uri="{BB962C8B-B14F-4D97-AF65-F5344CB8AC3E}">
        <p14:creationId xmlns:p14="http://schemas.microsoft.com/office/powerpoint/2010/main" val="3094309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7D7EF7-A757-4EBB-6260-59C08641B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Что было сделано? Ключевые метрики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C93539-5258-CAF1-F35E-2E18D69BD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Создано более </a:t>
            </a:r>
            <a:r>
              <a:rPr lang="ru-RU" sz="2400" b="1" dirty="0"/>
              <a:t>30+</a:t>
            </a:r>
            <a:r>
              <a:rPr lang="ru-RU" sz="2400" dirty="0"/>
              <a:t> подробных статей и ответов в разделе FAQ.</a:t>
            </a:r>
          </a:p>
          <a:p>
            <a:r>
              <a:rPr lang="ru-RU" sz="2400" dirty="0"/>
              <a:t>Разработана интуитивно понятная навигация по 4 основным категориям.</a:t>
            </a:r>
          </a:p>
          <a:p>
            <a:r>
              <a:rPr lang="ru-RU" sz="2400" dirty="0"/>
              <a:t>Подготовлен финальный отчет объемом более 5 страниц.</a:t>
            </a:r>
          </a:p>
          <a:p>
            <a:r>
              <a:rPr lang="ru-RU" sz="2400" dirty="0"/>
              <a:t>Реализован полнофункциональный прототип портала.</a:t>
            </a:r>
          </a:p>
          <a:p>
            <a:r>
              <a:rPr lang="ru-RU" sz="2400" dirty="0"/>
              <a:t>«Переходим к конкретным результатам нашей работы. Нам удалось создать обширную базу знаний, которая охватывает все заявленные темы. Каждый ответ в нашем FAQ — это выверенная инструкция, готовая к использованию».</a:t>
            </a:r>
          </a:p>
        </p:txBody>
      </p:sp>
    </p:spTree>
    <p:extLst>
      <p:ext uri="{BB962C8B-B14F-4D97-AF65-F5344CB8AC3E}">
        <p14:creationId xmlns:p14="http://schemas.microsoft.com/office/powerpoint/2010/main" val="2653630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83DD23-B34A-D40B-F045-9ADD2B72C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Давайте посмотрим, как это работает!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BB68F2-8FF9-4401-F038-E35152D34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Главная страница: краткое введение и поиск.</a:t>
            </a:r>
          </a:p>
          <a:p>
            <a:r>
              <a:rPr lang="ru-RU" sz="2400" dirty="0"/>
              <a:t>Категории: быстрый доступ к нужной теме.</a:t>
            </a:r>
          </a:p>
          <a:p>
            <a:r>
              <a:rPr lang="ru-RU" sz="2400" dirty="0"/>
              <a:t>Статья «Как проверить сайт?»: наглядный пример структуры ответа.</a:t>
            </a:r>
          </a:p>
          <a:p>
            <a:r>
              <a:rPr lang="ru-RU" sz="2400" dirty="0"/>
              <a:t>Адаптивность: корректное отображение на мобильных устройствах.</a:t>
            </a:r>
          </a:p>
          <a:p>
            <a:r>
              <a:rPr lang="ru-RU" sz="2400" dirty="0"/>
              <a:t>«Сейчас я покажу вам, как выглядит наш портал. Как видите, главная задача — быстро найти ответ. Например, если вас интересует безопасность, вы переходите в этот раздел и находите подробную статью с примерами. Дизайн адаптирован под любые экраны, так что пользоваться им удобно и с телефона».</a:t>
            </a:r>
          </a:p>
        </p:txBody>
      </p:sp>
    </p:spTree>
    <p:extLst>
      <p:ext uri="{BB962C8B-B14F-4D97-AF65-F5344CB8AC3E}">
        <p14:creationId xmlns:p14="http://schemas.microsoft.com/office/powerpoint/2010/main" val="1656484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9AB2E8-7328-CACA-1670-0AB737D9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проекта и планы на будущее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6E5BEF-06F9-2493-BD91-B9FC3DF80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16557"/>
          </a:xfrm>
        </p:spPr>
        <p:txBody>
          <a:bodyPr>
            <a:normAutofit fontScale="92500" lnSpcReduction="10000"/>
          </a:bodyPr>
          <a:lstStyle/>
          <a:p>
            <a:r>
              <a:rPr lang="ru-RU" sz="2400" b="1" dirty="0"/>
              <a:t>Цель достигнута:</a:t>
            </a:r>
            <a:r>
              <a:rPr lang="ru-RU" sz="2400" dirty="0"/>
              <a:t> создан полезный и качественный продукт для повышения цифровой грамотности.</a:t>
            </a:r>
          </a:p>
          <a:p>
            <a:r>
              <a:rPr lang="ru-RU" sz="2400" b="1" dirty="0"/>
              <a:t>Успешная командная работа:</a:t>
            </a:r>
            <a:r>
              <a:rPr lang="ru-RU" sz="2400" dirty="0"/>
              <a:t> выбранная модель взаимодействия доказала свою эффективность.</a:t>
            </a:r>
          </a:p>
          <a:p>
            <a:r>
              <a:rPr lang="ru-RU" sz="2400" b="1" dirty="0"/>
              <a:t>Технологическая база:</a:t>
            </a:r>
            <a:r>
              <a:rPr lang="ru-RU" sz="2400" dirty="0"/>
              <a:t> заложен прочный фундамент для дальнейшего развития.</a:t>
            </a:r>
          </a:p>
          <a:p>
            <a:r>
              <a:rPr lang="ru-RU" sz="2400" b="1" dirty="0"/>
              <a:t>Дальнейшие шаги:</a:t>
            </a:r>
            <a:r>
              <a:rPr lang="ru-RU" sz="2400" dirty="0"/>
              <a:t> наполнение раздела новыми статьями, разработка интерактивных тренажеров, создание мобильной версии.</a:t>
            </a:r>
          </a:p>
          <a:p>
            <a:r>
              <a:rPr lang="ru-RU" sz="2400" dirty="0"/>
              <a:t>«В заключение хочу сказать, что мы успешно справились с поставленной задачей. Мы создали не просто набор текстов, а полноценный инструмент для обучения. В наших планах — дальнейшее развитие портала, добавление новых функций и материалов. Спасибо за внимание! Мы готовы ответить на ваши вопросы».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1372480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">
  <a:themeElements>
    <a:clrScheme name="Дивиденд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Дивиденд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Дивиденд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TM03457464[[fn=Дивиденд]]</Template>
  <TotalTime>12</TotalTime>
  <Words>755</Words>
  <Application>Microsoft Office PowerPoint</Application>
  <PresentationFormat>Широкоэкранный</PresentationFormat>
  <Paragraphs>44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Corbel</vt:lpstr>
      <vt:lpstr>Gill Sans MT</vt:lpstr>
      <vt:lpstr>Wingdings 2</vt:lpstr>
      <vt:lpstr>Дивиденд</vt:lpstr>
      <vt:lpstr>Проект «Цифровой щит»: База знаний по информационной безопасности и цифровой грамотности. Команда QS</vt:lpstr>
      <vt:lpstr>Кто мы?</vt:lpstr>
      <vt:lpstr>Растущая угроза цифрового мира</vt:lpstr>
      <vt:lpstr>Единый информационный портал «Цифровой щит»</vt:lpstr>
      <vt:lpstr>Технологический стек</vt:lpstr>
      <vt:lpstr>Прозрачность разработки на GitHub</vt:lpstr>
      <vt:lpstr>Принципы безопасности, заложенные в основу</vt:lpstr>
      <vt:lpstr>Что было сделано? Ключевые метрики</vt:lpstr>
      <vt:lpstr>Давайте посмотрим, как это работает!</vt:lpstr>
      <vt:lpstr>Итоги проекта и планы на будущее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Кубик Роман</dc:creator>
  <cp:lastModifiedBy>Кубик Роман</cp:lastModifiedBy>
  <cp:revision>1</cp:revision>
  <dcterms:created xsi:type="dcterms:W3CDTF">2026-06-05T09:24:29Z</dcterms:created>
  <dcterms:modified xsi:type="dcterms:W3CDTF">2026-06-05T09:36:57Z</dcterms:modified>
</cp:coreProperties>
</file>